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 snapToObjects="1">
      <p:cViewPr varScale="1">
        <p:scale>
          <a:sx n="88" d="100"/>
          <a:sy n="88" d="100"/>
        </p:scale>
        <p:origin x="176" y="8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017520"/>
            <a:ext cx="11868912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>
                <a:solidFill>
                  <a:srgbClr val="CADCFC"/>
                </a:solidFill>
              </a:rPr>
              <a:t>A COMPARATIVE STUDY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5400" b="1" i="0" dirty="0">
                <a:solidFill>
                  <a:srgbClr val="FFFFFF"/>
                </a:solidFill>
              </a:rPr>
              <a:t>Pandas and Modin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600" b="0" i="0" dirty="0">
                <a:solidFill>
                  <a:srgbClr val="A0B4D8"/>
                </a:solidFill>
              </a:rPr>
              <a:t>Network Analysis &amp; NLP of Open-Source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114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Introduction &amp;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ADCFC"/>
                </a:solidFill>
              </a:rPr>
              <a:t>Why community health matters beyond GitHub stars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dirty="0">
                <a:solidFill>
                  <a:srgbClr val="028090"/>
                </a:solidFill>
              </a:rPr>
              <a:t>▸  </a:t>
            </a:r>
            <a:r>
              <a:rPr sz="1400" dirty="0">
                <a:solidFill>
                  <a:srgbClr val="1E293B"/>
                </a:solidFill>
              </a:rPr>
              <a:t>Popular libraries are sustained by communities, not just code</a:t>
            </a:r>
          </a:p>
          <a:p>
            <a:pPr algn="l">
              <a:spcAft>
                <a:spcPts val="600"/>
              </a:spcAft>
            </a:pPr>
            <a:r>
              <a:rPr sz="1400" b="1" dirty="0">
                <a:solidFill>
                  <a:srgbClr val="028090"/>
                </a:solidFill>
              </a:rPr>
              <a:t>▸  </a:t>
            </a:r>
            <a:r>
              <a:rPr sz="1400" dirty="0">
                <a:solidFill>
                  <a:srgbClr val="1E293B"/>
                </a:solidFill>
              </a:rPr>
              <a:t>GitHub stars don't reveal contribution health or resilience</a:t>
            </a:r>
          </a:p>
          <a:p>
            <a:pPr algn="l">
              <a:spcAft>
                <a:spcPts val="600"/>
              </a:spcAft>
            </a:pPr>
            <a:r>
              <a:rPr sz="1400" b="1" dirty="0">
                <a:solidFill>
                  <a:srgbClr val="028090"/>
                </a:solidFill>
              </a:rPr>
              <a:t>▸  </a:t>
            </a:r>
            <a:r>
              <a:rPr sz="1400" dirty="0">
                <a:solidFill>
                  <a:srgbClr val="1E293B"/>
                </a:solidFill>
              </a:rPr>
              <a:t>A project with millions of users but few maintainers is fragile</a:t>
            </a:r>
          </a:p>
          <a:p>
            <a:pPr algn="l">
              <a:spcAft>
                <a:spcPts val="600"/>
              </a:spcAft>
            </a:pPr>
            <a:r>
              <a:rPr sz="1400" b="1" dirty="0">
                <a:solidFill>
                  <a:srgbClr val="028090"/>
                </a:solidFill>
              </a:rPr>
              <a:t>▸  </a:t>
            </a:r>
            <a:r>
              <a:rPr sz="1400" dirty="0">
                <a:solidFill>
                  <a:srgbClr val="1E293B"/>
                </a:solidFill>
              </a:rPr>
              <a:t>Network analysis + NLP provide measurable community signals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66928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59686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761"/>
                </a:solidFill>
              </a:rP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116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</a:rPr>
              <a:t>Do contributor interaction networks and pull request topic patterns differ between a mature, widely-adopted library (pandas) and a smaller, newer project in the same ecosystem (Modin) — and do these differences reflect meaningful variation in community health and sustainability?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Repositories studied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006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Pandas — mature, widely-adopted data manipulation library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Modin — newer alternative in the same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Data collection · Network analysis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47472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36192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GitHub API with personal access token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1,000 recent PRs per repository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300 PR reviews per repository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PR metadata: title, author, body, state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Review data: reviewer → author edges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47472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80560" y="15087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536192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Network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574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Directed weighted graphs (</a:t>
            </a:r>
            <a:r>
              <a:rPr sz="1300" dirty="0" err="1">
                <a:solidFill>
                  <a:srgbClr val="1E293B"/>
                </a:solidFill>
              </a:rPr>
              <a:t>reviewer→author</a:t>
            </a:r>
            <a:r>
              <a:rPr sz="1300" dirty="0">
                <a:solidFill>
                  <a:srgbClr val="1E293B"/>
                </a:solidFill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Degree, betweenness &amp; closeness centrality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Community detection (Louvain clustering)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Network density &amp; average degree metrics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028090"/>
                </a:solidFill>
              </a:rPr>
              <a:t>▸  </a:t>
            </a:r>
            <a:r>
              <a:rPr sz="1300" dirty="0">
                <a:solidFill>
                  <a:srgbClr val="1E293B"/>
                </a:solidFill>
              </a:rPr>
              <a:t>Bot accounts removed before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41732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417320"/>
            <a:ext cx="347472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58200" y="15087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536192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NLP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0574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TF-IDF for key term extraction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VADER sentiment analysis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LDA topic modelling (4–7 topics)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Perplexity scoring for topic count tuning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Temporal contribution pattern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Network Analysis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Structural differences in contributor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5029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E2761"/>
                </a:solidFill>
              </a:rPr>
              <a:t>Pandas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150876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1508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67128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5534"/>
            <a:ext cx="13258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Nodes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057400"/>
            <a:ext cx="150876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03120" y="2057400"/>
            <a:ext cx="1508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40279" y="2167128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</a:rPr>
              <a:t>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5534"/>
            <a:ext cx="13258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Density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057400"/>
            <a:ext cx="150876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03320" y="2057400"/>
            <a:ext cx="1508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2167128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</a:rPr>
              <a:t>3.59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2675534"/>
            <a:ext cx="13258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Avg Degree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83280"/>
            <a:ext cx="5074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Hub-like structure — few central contributors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jbrockmendel highest degree centrality (0.67)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6 detected communities — broader but fragmented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Concentration risk: collaboration bottlenecked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417320"/>
            <a:ext cx="5394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481328"/>
            <a:ext cx="5029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E2761"/>
                </a:solidFill>
              </a:rPr>
              <a:t> Modin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057400"/>
            <a:ext cx="150876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2057400"/>
            <a:ext cx="1508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167128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</a:rP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2675534"/>
            <a:ext cx="13258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Nodes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057400"/>
            <a:ext cx="150876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2057400"/>
            <a:ext cx="1508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2167128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</a:rPr>
              <a:t>0.14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75534"/>
            <a:ext cx="13258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Density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2057400"/>
            <a:ext cx="1508760" cy="1188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46920" y="2057400"/>
            <a:ext cx="1508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2167128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</a:rPr>
              <a:t>7.36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675534"/>
            <a:ext cx="1325880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Avg Degree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383280"/>
            <a:ext cx="5074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Tighter, more interconnected structure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YarShev highest degree centrality (0.80)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Fewer communities — closer coordination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Stronger cohesion despite smaller contributor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172200"/>
            <a:ext cx="113385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61996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Key Takeaway: Modin is smaller but significantly more interconnected — density 2.7× higher than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NLP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Topic modelling · Sentiment analysis · TF-IDF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LDA Topic Themes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Modin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Testing &amp; bug fixes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Indexing &amp; data structures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Dependency management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8600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Benchmarking &amp; performance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Contributor workflows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DataFrame operations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1E293B"/>
                </a:solidFill>
              </a:rPr>
              <a:t>Backend 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53949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394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0416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VADER 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Both projects: predominantly positive tone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Modin: more consistently positive distribution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Pandas: wider sentiment spread — more varied discussions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28090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Note: VADER designed for social media, not technical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5394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481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What the Discussions Reveal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116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1E293B"/>
                </a:solidFill>
              </a:rPr>
              <a:t>Pandas → maintenance-heavy: testing, fixing, indexing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1E293B"/>
                </a:solidFill>
              </a:rPr>
              <a:t>Modin → growth-oriented: benchmarking, new backends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1E293B"/>
                </a:solidFill>
              </a:rPr>
              <a:t>Different thematic priorities despite similar domain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1E293B"/>
                </a:solidFill>
              </a:rPr>
              <a:t>Topic modelling surfaced 6 topics (Pandas), 4 (Modin)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1E293B"/>
                </a:solidFill>
              </a:rPr>
              <a:t>Temporal patterns: Pandas activity clustered Mar–May; Modin spread over 12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440680"/>
            <a:ext cx="5394960" cy="10058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5440680"/>
            <a:ext cx="5394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553212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2761"/>
                </a:solidFill>
              </a:rPr>
              <a:t>Interpretation: Pandas focuses on sustaining quality; Modin focuses on expanding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ADCFC"/>
                </a:solidFill>
              </a:rPr>
              <a:t>Do the differences reflect meaningful variation in community health?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133856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Yes — the observed differences reflect structurally and thematically distinct communities consistent with their stages of maturity.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5349240" cy="2286000"/>
          </a:xfrm>
          <a:prstGeom prst="rect">
            <a:avLst/>
          </a:prstGeom>
          <a:solidFill>
            <a:srgbClr val="26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788920"/>
            <a:ext cx="5349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52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</a:rP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Large contributor base, 6 communities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Hub dependency → sustainability risk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Maintenance-focused discussions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788920"/>
            <a:ext cx="5349240" cy="2286000"/>
          </a:xfrm>
          <a:prstGeom prst="rect">
            <a:avLst/>
          </a:prstGeom>
          <a:solidFill>
            <a:srgbClr val="26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788920"/>
            <a:ext cx="5349240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852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</a:rPr>
              <a:t>Modin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Smaller base, but 2.7× denser network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Strong cohesion — small team vulnerability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Growth &amp; performance-focused discussions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77840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A0B4D8"/>
                </a:solidFill>
              </a:rPr>
              <a:t>GitHub only — Slack/email interactions not captured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A0B4D8"/>
                </a:solidFill>
              </a:rPr>
              <a:t>Asymmetric sample window (3 months vs 12 months)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A0B4D8"/>
                </a:solidFill>
              </a:rPr>
              <a:t>VADER not optimised for technical discourse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577840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A0B4D8"/>
                </a:solidFill>
              </a:rPr>
              <a:t>Extend to Slack/email communication data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A0B4D8"/>
                </a:solidFill>
              </a:rPr>
              <a:t>Longitudinal tracking of network evolution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28090"/>
                </a:solidFill>
              </a:rPr>
              <a:t>▸  </a:t>
            </a:r>
            <a:r>
              <a:rPr sz="1200">
                <a:solidFill>
                  <a:srgbClr val="A0B4D8"/>
                </a:solidFill>
              </a:rPr>
              <a:t>NLP models trained on software engineering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628</Words>
  <Application>Microsoft Macintosh PowerPoint</Application>
  <PresentationFormat>Custom</PresentationFormat>
  <Paragraphs>107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Javeria Khokhar</cp:lastModifiedBy>
  <cp:revision>3</cp:revision>
  <dcterms:created xsi:type="dcterms:W3CDTF">2013-01-27T09:14:16Z</dcterms:created>
  <dcterms:modified xsi:type="dcterms:W3CDTF">2026-05-24T12:25:01Z</dcterms:modified>
  <cp:category/>
</cp:coreProperties>
</file>